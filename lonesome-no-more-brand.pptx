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F7A61"/>
                </a:solidFill>
                <a:latin typeface="Merriweather"/>
              </a:defRPr>
            </a:pPr>
            <a:r>
              <a:t>Lonesome No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A5A5A"/>
                </a:solidFill>
                <a:latin typeface="Inter"/>
              </a:defRPr>
            </a:pPr>
            <a:r>
              <a:t>Brand Guidelines for Gamma Import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F7A61"/>
                </a:solidFill>
                <a:latin typeface="Merriweather"/>
              </a:defRPr>
            </a:pPr>
            <a:r>
              <a:t>Logo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7160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5F7A61"/>
                </a:solidFill>
                <a:latin typeface="Merriweather"/>
              </a:defRPr>
            </a:pPr>
            <a:r>
              <a:t>Lonesome No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A5A5A"/>
                </a:solidFill>
                <a:latin typeface="Inter"/>
              </a:defRPr>
            </a:pPr>
            <a:r>
              <a:t>AI Companionship for Seniors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F7A61"/>
                </a:solidFill>
                <a:latin typeface="Merriweather"/>
              </a:defRPr>
            </a:pPr>
            <a:r>
              <a:t>Color Palette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2286000" cy="1371600"/>
          </a:xfrm>
          <a:prstGeom prst="roundRect">
            <a:avLst/>
          </a:prstGeom>
          <a:solidFill>
            <a:srgbClr val="5F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Inter"/>
              </a:defRPr>
            </a:pPr>
            <a:r>
              <a:t>Primary</a:t>
            </a:r>
            <a:br/>
            <a:r>
              <a:t>Sage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A5A"/>
                </a:solidFill>
                <a:latin typeface="Inter"/>
              </a:defRPr>
            </a:pPr>
            <a:r>
              <a:t>#5F7A61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188720"/>
            <a:ext cx="2286000" cy="1371600"/>
          </a:xfrm>
          <a:prstGeom prst="roundRect">
            <a:avLst/>
          </a:prstGeom>
          <a:solidFill>
            <a:srgbClr val="D47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651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Inter"/>
              </a:defRPr>
            </a:pPr>
            <a:r>
              <a:t>Secondary</a:t>
            </a:r>
            <a:br/>
            <a:r>
              <a:t>Terra Cotta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A5A"/>
                </a:solidFill>
                <a:latin typeface="Inter"/>
              </a:defRPr>
            </a:pPr>
            <a:r>
              <a:t>#D4735E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2286000" cy="1371600"/>
          </a:xfrm>
          <a:prstGeom prst="roundRect">
            <a:avLst/>
          </a:prstGeom>
          <a:solidFill>
            <a:srgbClr val="E8A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Inter"/>
              </a:defRPr>
            </a:pPr>
            <a:r>
              <a:t>Accent</a:t>
            </a:r>
            <a:br/>
            <a:r>
              <a:t>Honey Amber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71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A5A"/>
                </a:solidFill>
                <a:latin typeface="Inter"/>
              </a:defRPr>
            </a:pPr>
            <a:r>
              <a:t>#E8AA6B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2286000" cy="13716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Inter"/>
              </a:defRPr>
            </a:pPr>
            <a:r>
              <a:t>Text Dark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A5A"/>
                </a:solidFill>
                <a:latin typeface="Inter"/>
              </a:defRPr>
            </a:pPr>
            <a:r>
              <a:t>#2C2C2C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657600"/>
            <a:ext cx="2286000" cy="137160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Inter"/>
              </a:defRPr>
            </a:pPr>
            <a:r>
              <a:t>Text 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440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A5A"/>
                </a:solidFill>
                <a:latin typeface="Inter"/>
              </a:defRPr>
            </a:pPr>
            <a:r>
              <a:t>#5A5A5A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657600"/>
            <a:ext cx="2286000" cy="1371600"/>
          </a:xfrm>
          <a:prstGeom prst="round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Inter"/>
              </a:defRPr>
            </a:pPr>
            <a:r>
              <a:t>Background</a:t>
            </a:r>
            <a:br/>
            <a:r>
              <a:t>Cream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40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A5A"/>
                </a:solidFill>
                <a:latin typeface="Inter"/>
              </a:defRPr>
            </a:pPr>
            <a:r>
              <a:t>#FBF8F3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F7A61"/>
                </a:solidFill>
                <a:latin typeface="Merriweather"/>
              </a:defRPr>
            </a:pPr>
            <a:r>
              <a:t>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  <a:latin typeface="Inter"/>
              </a:defRPr>
            </a:pPr>
            <a:r>
              <a:t>Display Font: Merriweather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2C2C"/>
                </a:solidFill>
                <a:latin typeface="Merriweather"/>
              </a:defRPr>
            </a:pPr>
            <a:r>
              <a:t>Headline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2C2C"/>
                </a:solidFill>
                <a:latin typeface="Merriweather"/>
              </a:defRPr>
            </a:pPr>
            <a:r>
              <a:t>Section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2C2C2C"/>
                </a:solidFill>
                <a:latin typeface="Merriweather"/>
              </a:defRPr>
            </a:pPr>
            <a:r>
              <a:t>Subsection Heading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  <a:latin typeface="Inter"/>
              </a:defRPr>
            </a:pPr>
            <a:r>
              <a:t>Body Font: Inter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2C2C2C"/>
                </a:solidFill>
                <a:latin typeface="Inter"/>
              </a:defRPr>
            </a:pPr>
            <a:r>
              <a:t>Body text for optimal readability (19px 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2C2C"/>
                </a:solidFill>
                <a:latin typeface="Inter"/>
              </a:defRPr>
            </a:pPr>
            <a:r>
              <a:t>Secondary text and descriptions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C2C"/>
                </a:solidFill>
                <a:latin typeface="Inter"/>
              </a:defRPr>
            </a:pPr>
            <a:r>
              <a:t>Button labels and UI elements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F7A61"/>
                </a:solidFill>
                <a:latin typeface="Merriweather"/>
              </a:defRPr>
            </a:pPr>
            <a:r>
              <a:t>Button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743200" cy="731520"/>
          </a:xfrm>
          <a:prstGeom prst="roundRect">
            <a:avLst/>
          </a:prstGeom>
          <a:solidFill>
            <a:srgbClr val="5F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Primary Button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743200" cy="731520"/>
          </a:xfrm>
          <a:prstGeom prst="roundRect">
            <a:avLst/>
          </a:prstGeom>
          <a:solidFill>
            <a:srgbClr val="D47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Get Started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2743200" cy="731520"/>
          </a:xfrm>
          <a:prstGeom prst="roundRect">
            <a:avLst/>
          </a:prstGeom>
          <a:solidFill>
            <a:srgbClr val="E8A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Learn More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560320"/>
            <a:ext cx="27432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F7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5F7A61"/>
                </a:solidFill>
                <a:latin typeface="Inter"/>
              </a:defRPr>
            </a:pPr>
            <a:r>
              <a:t>Secondary Button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6400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40233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F7A61"/>
                </a:solidFill>
                <a:latin typeface="Merriweather"/>
              </a:defRPr>
            </a:pPr>
            <a:r>
              <a:t>Card 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48056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  <a:latin typeface="Inter"/>
              </a:defRPr>
            </a:pPr>
            <a:r>
              <a:t>Cards use white backgrounds with subtle borders and rounded corners for a clean, accessible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F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erriweather"/>
              </a:defRPr>
            </a:pPr>
            <a:r>
              <a:t>Lonesome No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2C2C"/>
                </a:solidFill>
                <a:latin typeface="Merriweather"/>
              </a:defRPr>
            </a:pPr>
            <a:r>
              <a:t>Companionship for Your</a:t>
            </a:r>
            <a:br/>
            <a:r>
              <a:t>Loved 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A5A5A"/>
                </a:solidFill>
                <a:latin typeface="Inter"/>
              </a:defRPr>
            </a:pPr>
            <a:r>
              <a:t>Peace of mind for you through simple phone conversations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2377440" cy="73152"/>
          </a:xfrm>
          <a:prstGeom prst="rect">
            <a:avLst/>
          </a:prstGeom>
          <a:solidFill>
            <a:srgbClr val="5F7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2C2C"/>
                </a:solidFill>
                <a:latin typeface="Merriweather"/>
              </a:defRPr>
            </a:pPr>
            <a:r>
              <a:t>24/7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  <a:latin typeface="Inter"/>
              </a:defRPr>
            </a:pPr>
            <a:r>
              <a:t>Always there when they need someone to talk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01752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3017520"/>
            <a:ext cx="2377440" cy="73152"/>
          </a:xfrm>
          <a:prstGeom prst="rect">
            <a:avLst/>
          </a:prstGeom>
          <a:solidFill>
            <a:srgbClr val="D47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2C2C"/>
                </a:solidFill>
                <a:latin typeface="Merriweather"/>
              </a:defRPr>
            </a:pPr>
            <a:r>
              <a:t>Personalized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  <a:latin typeface="Inter"/>
              </a:defRPr>
            </a:pPr>
            <a:r>
              <a:t>Conversations tailored to their interests and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01752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3017520"/>
            <a:ext cx="2377440" cy="73152"/>
          </a:xfrm>
          <a:prstGeom prst="rect">
            <a:avLst/>
          </a:prstGeom>
          <a:solidFill>
            <a:srgbClr val="E8A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2004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2C2C"/>
                </a:solidFill>
                <a:latin typeface="Merriweather"/>
              </a:defRPr>
            </a:pPr>
            <a:r>
              <a:t>Family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6576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A5A5A"/>
                </a:solidFill>
                <a:latin typeface="Inter"/>
              </a:defRPr>
            </a:pPr>
            <a:r>
              <a:t>Weekly summaries so you stay connected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303520"/>
            <a:ext cx="2743200" cy="640080"/>
          </a:xfrm>
          <a:prstGeom prst="roundRect">
            <a:avLst/>
          </a:prstGeom>
          <a:solidFill>
            <a:srgbClr val="D47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Join the Beta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F7A61"/>
                </a:solidFill>
                <a:latin typeface="Merriweath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A5A5A"/>
                </a:solidFill>
                <a:latin typeface="Inter"/>
              </a:defRPr>
            </a:pPr>
            <a:r>
              <a:t>A family-owned labor of love • Built in Buffalo, 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